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Tuberculosis Detection from Chest X-Rays</a:t>
            </a:r>
          </a:p>
          <a:p>
            <a:pPr>
              <a:spcBef>
                <a:spcPts val="1200"/>
              </a:spcBef>
              <a:defRPr sz="1800">
                <a:solidFill>
                  <a:srgbClr val="0D9488"/>
                </a:solidFill>
              </a:defRPr>
            </a:pPr>
            <a:r>
              <a:t>Deep Learning Decision Support System using VGG16 Transfer Learning &amp; Flask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PROJECT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0624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Ishan Choudhary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25BCE10753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420624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Khush Gupta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25BCE10038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20624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Vidit Choudhary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25BCE10749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20624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Saransh Mathur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25BCE10354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420624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Somya Bhardwaj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25BCE10409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The Global Burden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Tuberculosis (TB) is caused by Mycobacterium tuberculosis.</a:t>
            </a:r>
            <a:br/>
            <a:r>
              <a:t>• It remains one of the top 2 infectious killers worldwide.</a:t>
            </a:r>
            <a:br/>
            <a:r>
              <a:t>• Over 1.3 million deaths occur annually despite being treatable.</a:t>
            </a:r>
            <a:br/>
            <a:r>
              <a:t>• Early, rapid screening is crucial for outbreak prevention.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The Diagnostic Bottleneck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Frontline screening depends heavily on Chest Radiographs (CXR).</a:t>
            </a:r>
            <a:br/>
            <a:r>
              <a:t>• Severe shortage of expert radiologists in rural &amp; developing regions.</a:t>
            </a:r>
            <a:br/>
            <a:r>
              <a:t>• Radiologist fatigue and subtle lesions lead to missed diagnoses.</a:t>
            </a:r>
            <a:br/>
            <a:r>
              <a:t>• Sputum tests (microscopy/culture) take days or weeks for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Our Technical Objective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Build an automated, rapid Computer Vision diagnostic model.</a:t>
            </a:r>
            <a:br/>
            <a:r>
              <a:t>• Attain high sensitivity/recall to minimize missed positive cases.</a:t>
            </a:r>
            <a:br/>
            <a:r>
              <a:t>• Provide instant confidence probabilities via a web interface.</a:t>
            </a:r>
            <a:br/>
            <a:r>
              <a:t>• Empower clinics with a triage tool that works in under 200ms.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End-to-End System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1. Dataset Ingestion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2,800 balanced radiographs</a:t>
            </a:r>
            <a:br/>
            <a:r>
              <a:t>(1,400 Normal / 1,400 TB)</a:t>
            </a:r>
            <a:br/>
            <a:r>
              <a:t>from Kaggle benchmarks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8600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2. Preprocessing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Resized to 150x150x3</a:t>
            </a:r>
            <a:br/>
            <a:r>
              <a:t>Normalized [0.0 - 1.0]</a:t>
            </a:r>
            <a:br/>
            <a:r>
              <a:t>Data Augmentation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28600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3. Deep Learning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Pre-trained VGG16 base</a:t>
            </a:r>
            <a:br/>
            <a:r>
              <a:t>GlobalAvgPool + Dense(32)</a:t>
            </a:r>
            <a:br/>
            <a:r>
              <a:t>Dropout(0.4) + Sigmoid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59" y="228600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4. Model Persistence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Trained weights saved to</a:t>
            </a:r>
            <a:br/>
            <a:r>
              <a:t>tb_model.keras</a:t>
            </a:r>
            <a:br/>
            <a:r>
              <a:t>Accuracy: 87.38%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28600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5. Web API &amp; UI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Flask REST server</a:t>
            </a:r>
            <a:br/>
            <a:r>
              <a:t>Single-page frontend</a:t>
            </a:r>
            <a:br/>
            <a:r>
              <a:t>Real-time probabilities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Dataset Composition &amp; Preprocessing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Dataset Curation &amp; Partitioning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Sourced from 2 Kaggle Benchmarks:</a:t>
            </a:r>
            <a:br/>
            <a:r>
              <a:t>  1. Chest X-Ray Dataset (4 Categories - Pritpal Singh)</a:t>
            </a:r>
            <a:br/>
            <a:r>
              <a:t>  2. Tuberculosis Chest X-Ray Database (Tawsifur Rahman et al.)</a:t>
            </a:r>
            <a:br/>
            <a:br/>
            <a:r>
              <a:t>• Class Distribution (Perfect 50:50 Balance):</a:t>
            </a:r>
            <a:br/>
            <a:r>
              <a:t>  - Normal Lungs: 1,400 radiographs</a:t>
            </a:r>
            <a:br/>
            <a:r>
              <a:t>  - Tuberculosis-Positive: 1,400 radiographs</a:t>
            </a:r>
            <a:br/>
            <a:r>
              <a:t>  - Total: 2,800 images</a:t>
            </a:r>
            <a:br/>
            <a:br/>
            <a:r>
              <a:t>• Stratified Split (Fixed Seed = 42):</a:t>
            </a:r>
            <a:br/>
            <a:r>
              <a:t>  - Training Set (70%): 1,960 images</a:t>
            </a:r>
            <a:br/>
            <a:r>
              <a:t>  - Validation Set (15%): 420 images</a:t>
            </a:r>
            <a:br/>
            <a:r>
              <a:t>  - Held-out Test Set (15%): 420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Image Normalization &amp; Augmentation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Image Format: Lossless PNG (512x512 raw)</a:t>
            </a:r>
            <a:br/>
            <a:r>
              <a:t>  - Prevents lossy JPEG artifacts that obscure lung lesions.</a:t>
            </a:r>
            <a:br/>
            <a:br/>
            <a:r>
              <a:t>• Tensor Resizing &amp; Scaling:</a:t>
            </a:r>
            <a:br/>
            <a:r>
              <a:t>  - Downscaled to 150x150x3 for optimal compute efficiency.</a:t>
            </a:r>
            <a:br/>
            <a:r>
              <a:t>  - Divided by 255.0 to yield normalized float32 tensors [0.0 - 1.0].</a:t>
            </a:r>
            <a:br/>
            <a:br/>
            <a:r>
              <a:t>• Data Augmentation Pipeline:</a:t>
            </a:r>
            <a:br/>
            <a:r>
              <a:t>  - Rotation Range: ±15 degrees</a:t>
            </a:r>
            <a:br/>
            <a:r>
              <a:t>  - Width &amp; Height Shift: ±10%</a:t>
            </a:r>
            <a:br/>
            <a:r>
              <a:t>  - Zoom Range: ±10%</a:t>
            </a:r>
            <a:br/>
            <a:r>
              <a:t>  - Horizontal Flip: Enabled</a:t>
            </a:r>
            <a:br/>
            <a:r>
              <a:t>  - Prevents spatial overfitting and aids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Deep Learning Architecture: VGG16 Transfer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Why Transfer Learning with VGG16?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Pretrained Backbone: VGG16 trained on ImageNet (1.4M images) extracts deep hierarchical visual primitives.</a:t>
            </a:r>
            <a:br/>
            <a:r>
              <a:t>• Layer Freezing: The 13 convolutional layers are frozen (trainable = False), retaining general visual filters while eliminating millions of gradient computations.</a:t>
            </a:r>
            <a:br/>
            <a:r>
              <a:t>• Output Feature Map: Final convolution outputs a (4 x 4 x 512) tensor representation.</a:t>
            </a:r>
            <a:br/>
            <a:br/>
            <a:r>
              <a:t>Custom Classification Head:</a:t>
            </a:r>
            <a:br/>
            <a:r>
              <a:t>1. GlobalAveragePooling2D(): Averages each 4x4 spatial slice into a single scalar (512 features). Eliminates 93% of dense parameters vs standard Flattening.</a:t>
            </a:r>
            <a:br/>
            <a:r>
              <a:t>2. Dense(32, activation='relu'): Compact fully connected layer with L2 Regularization (0.02) to penalize oversized weights.</a:t>
            </a:r>
            <a:br/>
            <a:r>
              <a:t>3. Dropout(0.40): Randomly zeros 40% of activations per pass during training, eliminating co-adaptation of neurons.</a:t>
            </a:r>
            <a:br/>
            <a:r>
              <a:t>4. Dense(1, activation='sigmoid'): Compresses the scalar logit into a calibrated probability between 0.0 (Normal) and 1.0 (TB).</a:t>
            </a:r>
            <a:br/>
            <a:br/>
            <a:r>
              <a:t>Optimization &amp; Loss:</a:t>
            </a:r>
            <a:br/>
            <a:r>
              <a:t>• Optimizer: Adam (Learning Rate = 1.5e-4) for stable gradient steps.</a:t>
            </a:r>
            <a:br/>
            <a:r>
              <a:t>• Loss Function: Binary Cross-Entropy with Label Smoothing (0.04) to avoid overconfident output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Model Performance &amp; Quantitative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Tuberculosis (TB)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Overall /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87.38%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A365D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5943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Clinical Insights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High Precision (90%) for TB: When the model predicts TB, it is correct 9 out of 10 times, minimizing false alarm strain on laboratories.</a:t>
            </a:r>
            <a:br/>
            <a:r>
              <a:t>• Strong Normal Recall (90%): 9 out of 10 healthy patients are safely cleared.</a:t>
            </a:r>
            <a:br/>
            <a:r>
              <a:t>• Balanced F1-Scores: 0.88 (Normal) and 0.87 (TB) confirm balanced model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828800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Confusion Matrix (420 Unseen Images)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Actual Normal:</a:t>
            </a:r>
            <a:br/>
            <a:r>
              <a:t>• True Negatives (TN): 190 (Correctly identified healthy)</a:t>
            </a:r>
            <a:br/>
            <a:r>
              <a:t>• False Positives (FP): 20 (Normal misclassified as TB)</a:t>
            </a:r>
            <a:br/>
            <a:br/>
            <a:r>
              <a:t>Actual TB:</a:t>
            </a:r>
            <a:br/>
            <a:r>
              <a:t>• False Negatives (FN): 33 (TB misclassified as Normal)</a:t>
            </a:r>
            <a:br/>
            <a:r>
              <a:t>• True Positives (TP): 177 (Correctly identified TB)</a:t>
            </a:r>
            <a:br/>
            <a:br/>
            <a:r>
              <a:t>Analysis:</a:t>
            </a:r>
            <a:br/>
            <a:r>
              <a:t>• 367 out of 420 test cases correctly diagnosed.</a:t>
            </a:r>
            <a:br/>
            <a:r>
              <a:t>• False Positives (20) prompt follow-up sputum tests safely.</a:t>
            </a:r>
            <a:br/>
            <a:r>
              <a:t>• False Negatives (33) represent subtle, early lesions requiring clinician oversight.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Receiver Operating Characteristic (ROC) &amp; Threshold Analysis</a:t>
            </a:r>
          </a:p>
        </p:txBody>
      </p:sp>
      <p:pic>
        <p:nvPicPr>
          <p:cNvPr id="5" name="Picture 4" descr="roc_curve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8593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ROC Curve Interpretation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The ROC Curve evaluates True Positive Rate vs False Positive Rate across 200 threshold increments (0.0 to 1.0).</a:t>
            </a:r>
            <a:br/>
            <a:br/>
            <a:r>
              <a:t>• Area Under the Curve (AUC):</a:t>
            </a:r>
            <a:br/>
            <a:r>
              <a:t>  - Demonstrates strong discriminative power well above random guess (0.50).</a:t>
            </a:r>
            <a:br/>
            <a:r>
              <a:t>  - Strong steepness toward the top-left corner indicates high sensitivity at low false alarm rates.</a:t>
            </a:r>
            <a:br/>
            <a:br/>
            <a:r>
              <a:t>• Adjustable Decision Threshold:</a:t>
            </a:r>
            <a:br/>
            <a:r>
              <a:t>  - Default threshold is set at 0.50 (50%).</a:t>
            </a:r>
            <a:br/>
            <a:r>
              <a:t>  - In high-burden pandemic or emergency triage settings, the threshold can be dialed down to 0.40 to capture even subtle TB cases (maximizing Recall).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Web Application Architecture &amp; UI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Flask Backend (app.py)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Global Model Caching:</a:t>
            </a:r>
            <a:br/>
            <a:r>
              <a:t>  Loads tb_model.keras once into RAM at startup for zero-delay inference.</a:t>
            </a:r>
            <a:br/>
            <a:br/>
            <a:r>
              <a:t>• API Route (/predict):</a:t>
            </a:r>
            <a:br/>
            <a:r>
              <a:t>  Accepts multipart/form-data images, validates file format, and preprocesses tensors in ~40ms.</a:t>
            </a:r>
            <a:br/>
            <a:br/>
            <a:r>
              <a:t>• Cloud-Ready:</a:t>
            </a:r>
            <a:br/>
            <a:r>
              <a:t>  Dynamically binds to $PORT for deployment on Render/Gunicorn.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Frontend UI (index.html)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Instant Local Preview:</a:t>
            </a:r>
            <a:br/>
            <a:r>
              <a:t>  Uses JavaScript URL.createObjectURL to display the radiograph before upload.</a:t>
            </a:r>
            <a:br/>
            <a:br/>
            <a:r>
              <a:t>• Animated Confidence Gauges:</a:t>
            </a:r>
            <a:br/>
            <a:r>
              <a:t>  Dual green/red CSS progress bars illustrate confidence percentages.</a:t>
            </a:r>
            <a:br/>
            <a:br/>
            <a:r>
              <a:t>• Diagnostic Verdict Banner:</a:t>
            </a:r>
            <a:br/>
            <a:r>
              <a:t>  Clear visual classification (Normal vs TB Detected) with danger-level color coding.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Client-Server Bridge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Modern Asynchronous Fetch:</a:t>
            </a:r>
            <a:br/>
            <a:r>
              <a:t>  Zero page reloads via JavaScript async/await POST requests.</a:t>
            </a:r>
            <a:br/>
            <a:br/>
            <a:r>
              <a:t>• Dual Endpoint Support:</a:t>
            </a:r>
            <a:br/>
            <a:r>
              <a:t>  Works natively with Flask (port 5000) and VS Code Live Server (port 5500).</a:t>
            </a:r>
            <a:br/>
            <a:br/>
            <a:r>
              <a:t>• Error Resilience:</a:t>
            </a:r>
            <a:br/>
            <a:r>
              <a:t>  Clear error messaging if invalid or non-image files are submitted.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Technology Stack &amp; Environment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59436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Programming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Core algorithmic development, data handling, and server logic.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Deep Learning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TensorFlow &amp; Keras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Neural network definition, transfer learning, backpropagation, and weight serialization.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Pretrained CNN Backbone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VGG16 (ImageNet)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 on radiographic spatial patterns.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Backend REST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Flask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Routing, request handling, file persistence, and JSON serialization.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Frontend Technologies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HTML5, CSS3, 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Client-side image preview, progress animations, asynchronous fetch API.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Image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Pillow (PIL) &amp;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Image decompression, format validation, normalization, and tensor transformation.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Visualization &amp; Metrics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Matplotlib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Plotting ROC curve and exporting publication-ready evaluation charts.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Team Division of Work &amp;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37360"/>
            <a:ext cx="17922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Ishan Choudhary</a:t>
            </a:r>
            <a:br/>
            <a:r>
              <a:t>(25BCE10753)</a:t>
            </a:r>
          </a:p>
          <a:p>
            <a:pPr>
              <a:spcBef>
                <a:spcPts val="400"/>
              </a:spcBef>
              <a:defRPr sz="1050" b="1">
                <a:solidFill>
                  <a:srgbClr val="0D9488"/>
                </a:solidFill>
              </a:defRPr>
            </a:pPr>
            <a:r>
              <a:t>Data Engineering &amp; Pipeline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Curated Normal &amp; TB images from 2 Kaggle datasets.</a:t>
            </a:r>
            <a:br/>
            <a:r>
              <a:t>• Removed corrupted files and balanced dataset (1,400:1,400).</a:t>
            </a:r>
            <a:br/>
            <a:r>
              <a:t>• Implemented stratified 70/15/15 split.</a:t>
            </a:r>
            <a:br/>
            <a:r>
              <a:t>• Designed data augmentation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737360"/>
            <a:ext cx="17922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Khush Gupta</a:t>
            </a:r>
            <a:br/>
            <a:r>
              <a:t>(25BCE10038)</a:t>
            </a:r>
          </a:p>
          <a:p>
            <a:pPr>
              <a:spcBef>
                <a:spcPts val="400"/>
              </a:spcBef>
              <a:defRPr sz="1050" b="1">
                <a:solidFill>
                  <a:srgbClr val="0D9488"/>
                </a:solidFill>
              </a:defRPr>
            </a:pPr>
            <a:r>
              <a:t>Deep Learning Architecture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Designed transfer learning strategy with VGG16.</a:t>
            </a:r>
            <a:br/>
            <a:r>
              <a:t>• Built custom head (GlobalAveragePooling2D + Dense).</a:t>
            </a:r>
            <a:br/>
            <a:r>
              <a:t>• Applied L2 Regularization &amp; 40% Dropout.</a:t>
            </a:r>
            <a:br/>
            <a:r>
              <a:t>• Supervised model compilation &amp; weight saving.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737360"/>
            <a:ext cx="17922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Vidit Choudhary</a:t>
            </a:r>
            <a:br/>
            <a:r>
              <a:t>(25BCE10749)</a:t>
            </a:r>
          </a:p>
          <a:p>
            <a:pPr>
              <a:spcBef>
                <a:spcPts val="400"/>
              </a:spcBef>
              <a:defRPr sz="1050" b="1">
                <a:solidFill>
                  <a:srgbClr val="0D9488"/>
                </a:solidFill>
              </a:defRPr>
            </a:pPr>
            <a:r>
              <a:t>Model Evaluation &amp; Metrics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Developed evaluate.py testing suite on 420 unseen images.</a:t>
            </a:r>
            <a:br/>
            <a:r>
              <a:t>• Computed Precision, Recall, and F1-Scores.</a:t>
            </a:r>
            <a:br/>
            <a:r>
              <a:t>• Generated Confusion Matrix analysis.</a:t>
            </a:r>
            <a:br/>
            <a:r>
              <a:t>• Plotted the ROC Curve (roc_curve_standard.png).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1645920"/>
            <a:ext cx="2011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1737360"/>
            <a:ext cx="17922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Saransh Mathur</a:t>
            </a:r>
            <a:br/>
            <a:r>
              <a:t>(25BCE10354)</a:t>
            </a:r>
          </a:p>
          <a:p>
            <a:pPr>
              <a:spcBef>
                <a:spcPts val="400"/>
              </a:spcBef>
              <a:defRPr sz="1050" b="1">
                <a:solidFill>
                  <a:srgbClr val="0D9488"/>
                </a:solidFill>
              </a:defRPr>
            </a:pPr>
            <a:r>
              <a:t>Backend API &amp; Integration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Developed Flask server (app.py) &amp; REST endpoints.</a:t>
            </a:r>
            <a:br/>
            <a:r>
              <a:t>• Implemented in-memory model caching at startup.</a:t>
            </a:r>
            <a:br/>
            <a:r>
              <a:t>• Built image preprocessing pipeline for uploads.</a:t>
            </a:r>
            <a:br/>
            <a:r>
              <a:t>• Handled dynamic $PORT binding for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1737360"/>
            <a:ext cx="17922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Somya Bhardwaj</a:t>
            </a:r>
            <a:br/>
            <a:r>
              <a:t>(25BCE10409)</a:t>
            </a:r>
          </a:p>
          <a:p>
            <a:pPr>
              <a:spcBef>
                <a:spcPts val="400"/>
              </a:spcBef>
              <a:defRPr sz="1050" b="1">
                <a:solidFill>
                  <a:srgbClr val="0D9488"/>
                </a:solidFill>
              </a:defRPr>
            </a:pPr>
            <a:r>
              <a:t>Frontend UI &amp; Documentation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Designed single-page UI (index.html) with image preview.</a:t>
            </a:r>
            <a:br/>
            <a:r>
              <a:t>• Created animated progress bars &amp; verdict banners.</a:t>
            </a:r>
            <a:br/>
            <a:r>
              <a:t>• Authored project documentation (README.md).</a:t>
            </a:r>
            <a:br/>
            <a:r>
              <a:t>• Handled Git version control &amp; project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TUBERCULOSIS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Limitations, Challenges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Current Limitations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Binary Classification Only:</a:t>
            </a:r>
            <a:br/>
            <a:r>
              <a:t>  Currently classifies Normal vs TB; does not differentiate other lung diseases like Pneumonia or COVID-19.</a:t>
            </a:r>
            <a:br/>
            <a:br/>
            <a:r>
              <a:t>• Heavy Model Footprint:</a:t>
            </a:r>
            <a:br/>
            <a:r>
              <a:t>  VGG16 model is ~59 MB, requiring high memory (700MB+ RAM) on serverless cloud tiers.</a:t>
            </a:r>
            <a:br/>
            <a:br/>
            <a:r>
              <a:t>• Black-Box Predictions:</a:t>
            </a:r>
            <a:br/>
            <a:r>
              <a:t>  Current predictions do not visually highlight lesion bounding 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Future Enhancements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Grad-CAM Heatmaps:</a:t>
            </a:r>
            <a:br/>
            <a:r>
              <a:t>  Integrate Gradient-weighted Class Activation Mapping to highlight affected lung lobes directly for clinicians.</a:t>
            </a:r>
            <a:br/>
            <a:br/>
            <a:r>
              <a:t>• Multi-Class Expansion:</a:t>
            </a:r>
            <a:br/>
            <a:r>
              <a:t>  Extend architecture to 4-class screening (Normal, TB, Viral Pneumonia, Bacterial Pneumonia).</a:t>
            </a:r>
            <a:br/>
            <a:br/>
            <a:r>
              <a:t>• Mobile &amp; Edge Optimization:</a:t>
            </a:r>
            <a:br/>
            <a:r>
              <a:t>  Quantize to TensorFlow Lite (TFLite) for offline screening on tablets in rural clinics.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Clinical Deployment Path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Hospital PACS Integration:</a:t>
            </a:r>
            <a:br/>
            <a:r>
              <a:t>  Support native DICOM (.dcm) medical imaging format integration directly from X-ray machines.</a:t>
            </a:r>
            <a:br/>
            <a:br/>
            <a:r>
              <a:t>• Physician-in-the-Loop:</a:t>
            </a:r>
            <a:br/>
            <a:r>
              <a:t>  Deploy as an assistive second-opinion triage tool rather than an autonomous decision maker.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Summary &amp; Conclusion</a:t>
            </a:r>
          </a:p>
          <a:p>
            <a:pPr>
              <a:spcBef>
                <a:spcPts val="2000"/>
              </a:spcBef>
              <a:defRPr sz="1500">
                <a:solidFill>
                  <a:srgbClr val="CBD5E1"/>
                </a:solidFill>
              </a:defRPr>
            </a:pPr>
            <a:r>
              <a:t>• Successfully engineered a high-precision deep learning diagnostic pipeline achieving 87.38% test accuracy on chest radiographs.</a:t>
            </a:r>
            <a:br/>
            <a:r>
              <a:t>• Solved class imbalance using a rigorously balanced dataset of 2,800 images across 2 benchmark repositories.</a:t>
            </a:r>
            <a:br/>
            <a:r>
              <a:t>• Deployed a fully functional, zero-latency web application serving instantaneous inference and intuitive visual feedback.</a:t>
            </a:r>
            <a:br/>
            <a:r>
              <a:t>• Provides an accessible, scalable second-opinion triage solution to assist healthcare professionals in tuberculosis screening.</a:t>
            </a:r>
          </a:p>
          <a:p>
            <a:pPr>
              <a:spcBef>
                <a:spcPts val="3000"/>
              </a:spcBef>
              <a:defRPr sz="2200" b="1">
                <a:solidFill>
                  <a:srgbClr val="0D9488"/>
                </a:solidFill>
              </a:defRPr>
            </a:pPr>
            <a:r>
              <a:t>Thank You! We are open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